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0C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为什么需要专精化？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73152" cy="22860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39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3D"/>
                </a:solidFill>
              </a:defRPr>
            </a:pPr>
            <a:r>
              <a:t>🤖 通用大模型的局限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493775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5C5C"/>
                </a:solidFill>
              </a:defRPr>
            </a:pPr>
            <a:r>
              <a:t>▸ 可以对话、写代码、分析问题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但不是网络安全专家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就像医学大学生未上过手术台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无法直接处理专业安全任务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097280"/>
            <a:ext cx="58521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097280"/>
            <a:ext cx="73152" cy="2286000"/>
          </a:xfrm>
          <a:prstGeom prst="rect">
            <a:avLst/>
          </a:prstGeom>
          <a:solidFill>
            <a:srgbClr val="00C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234439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3D"/>
                </a:solidFill>
              </a:defRPr>
            </a:pPr>
            <a:r>
              <a:t>🎯 我们的目标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60020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5C5C"/>
                </a:solidFill>
              </a:defRPr>
            </a:pPr>
            <a:r>
              <a:t>▸ 打造网络安全领域专家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威胁解读与处置建议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漏洞分析与修复方案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7×24小时不知疲倦的AI助手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3D"/>
                </a:solidFill>
              </a:defRPr>
            </a:pPr>
            <a:r>
              <a:t>解决方案：三步走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114800"/>
            <a:ext cx="35661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37360" y="4297680"/>
            <a:ext cx="731520" cy="731520"/>
          </a:xfrm>
          <a:prstGeom prst="ellipse">
            <a:avLst/>
          </a:prstGeom>
          <a:solidFill>
            <a:srgbClr val="20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43891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3D"/>
                </a:solidFill>
              </a:defRPr>
            </a:pPr>
            <a:r>
              <a:t>高质量数据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86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C5C5C"/>
                </a:solidFill>
              </a:defRPr>
            </a:pPr>
            <a:r>
              <a:t>漏洞库+实战日志+安全文档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4114800"/>
            <a:ext cx="35661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0" y="4297680"/>
            <a:ext cx="731520" cy="731520"/>
          </a:xfrm>
          <a:prstGeom prst="ellipse">
            <a:avLst/>
          </a:prstGeom>
          <a:solidFill>
            <a:srgbClr val="00C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43891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⚙️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51206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3D"/>
                </a:solidFill>
              </a:defRPr>
            </a:pPr>
            <a:r>
              <a:t>LoRA微调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5486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C5C5C"/>
                </a:solidFill>
              </a:defRPr>
            </a:pPr>
            <a:r>
              <a:t>低成本打造专家能力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4114800"/>
            <a:ext cx="35661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5440" y="4297680"/>
            <a:ext cx="731520" cy="7315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43891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51206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3D"/>
                </a:solidFill>
              </a:defRPr>
            </a:pPr>
            <a:r>
              <a:t>量化压缩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9" y="5486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C5C5C"/>
                </a:solidFill>
              </a:defRPr>
            </a:pPr>
            <a:r>
              <a:t>INT4让模型轻装上阵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0C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数据为王：高质量训练数据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5661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73152" cy="27432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39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3D"/>
                </a:solidFill>
              </a:defRPr>
            </a:pPr>
            <a:r>
              <a:t>🔐 漏洞库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5C5C"/>
                </a:solidFill>
              </a:defRPr>
            </a:pPr>
            <a:r>
              <a:t>▸ CVE 公开漏洞库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CNVD 国家漏洞库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数万条漏洞描述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漏洞原理与修复方案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实战积累的威胁情报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097280"/>
            <a:ext cx="35661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097280"/>
            <a:ext cx="73152" cy="2743200"/>
          </a:xfrm>
          <a:prstGeom prst="rect">
            <a:avLst/>
          </a:prstGeom>
          <a:solidFill>
            <a:srgbClr val="00C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234439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3D"/>
                </a:solidFill>
              </a:defRPr>
            </a:pPr>
            <a:r>
              <a:t>📊 实战日志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0020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5C5C"/>
                </a:solidFill>
              </a:defRPr>
            </a:pPr>
            <a:r>
              <a:t>▸ Nmap 扫描结果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蜜罐攻击记录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真实威胁日志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攻击行为分析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误报与正常流量区分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097280"/>
            <a:ext cx="35661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097280"/>
            <a:ext cx="73152" cy="2743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234439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3D"/>
                </a:solidFill>
              </a:defRPr>
            </a:pPr>
            <a:r>
              <a:t>📚 安全文档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60020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5C5C"/>
                </a:solidFill>
              </a:defRPr>
            </a:pPr>
            <a:r>
              <a:t>▸ RFC 技术文档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OWASP 指南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各厂商安全报告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最佳实践手册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行业安全标准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3D"/>
                </a:solidFill>
              </a:defRPr>
            </a:pPr>
            <a:r>
              <a:t>让模型学习这些数据，就相当于让医学生熟读病例、进行临床实习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572000"/>
            <a:ext cx="11430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05EC8"/>
                </a:solidFill>
              </a:defRPr>
            </a:pPr>
            <a:r>
              <a:t>数据质量决定模型能力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C5C5C"/>
                </a:solidFill>
              </a:defRPr>
            </a:pPr>
            <a:r>
              <a:t>▸ 覆盖全面：漏洞、日志、文档三位一体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C5C5C"/>
                </a:solidFill>
              </a:defRPr>
            </a:pPr>
            <a:r>
              <a:t>▸ 来源真实：来自实战对抗的第一手资料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C5C5C"/>
                </a:solidFill>
              </a:defRPr>
            </a:pPr>
            <a:r>
              <a:t>▸ 标注准确：专业安全人员审核校验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0C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LoRA微调：低成本打造专家能力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11430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73152" cy="1371600"/>
          </a:xfrm>
          <a:prstGeom prst="rect">
            <a:avLst/>
          </a:prstGeom>
          <a:solidFill>
            <a:srgbClr val="20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39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3D"/>
                </a:solidFill>
              </a:defRPr>
            </a:pPr>
            <a:r>
              <a:t>🧠 核心思想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5C5C"/>
                </a:solidFill>
              </a:defRPr>
            </a:pPr>
            <a:r>
              <a:t>▸ 不是重新建一个大脑，而是给大脑安装一个"网络安全模块"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LoRA 只更新 0.1% 的参数，保留模型原有能力，不会灾难性遗忘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651760"/>
            <a:ext cx="2651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651760"/>
            <a:ext cx="73152" cy="2011680"/>
          </a:xfrm>
          <a:prstGeom prst="rect">
            <a:avLst/>
          </a:prstGeom>
          <a:solidFill>
            <a:srgbClr val="00C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3D"/>
                </a:solidFill>
              </a:defRPr>
            </a:pPr>
            <a:r>
              <a:t>💰 训练成本低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546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5C5C"/>
                </a:solidFill>
              </a:defRPr>
            </a:pPr>
            <a:r>
              <a:t>▸ 一块 RTX 4090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即可完成训练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无需昂贵的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服务器集群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651760"/>
            <a:ext cx="2651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2651760"/>
            <a:ext cx="73152" cy="2011680"/>
          </a:xfrm>
          <a:prstGeom prst="rect">
            <a:avLst/>
          </a:prstGeom>
          <a:solidFill>
            <a:srgbClr val="20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78892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3D"/>
                </a:solidFill>
              </a:defRPr>
            </a:pPr>
            <a:r>
              <a:t>🛡️ 保留原有能力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1546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5C5C"/>
                </a:solidFill>
              </a:defRPr>
            </a:pPr>
            <a:r>
              <a:t>▸ 不会灾难性遗忘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通用能力保留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专业知识新增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平衡不丢失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651760"/>
            <a:ext cx="2651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651760"/>
            <a:ext cx="73152" cy="2011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78892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3D"/>
                </a:solidFill>
              </a:defRPr>
            </a:pPr>
            <a:r>
              <a:t>⚡ 训练速度快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1546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5C5C"/>
                </a:solidFill>
              </a:defRPr>
            </a:pPr>
            <a:r>
              <a:t>▸ 几天内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即可见效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快速迭代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持续优化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2651760"/>
            <a:ext cx="2651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06840" y="2651760"/>
            <a:ext cx="73152" cy="20116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19" y="278892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3D"/>
                </a:solidFill>
              </a:defRPr>
            </a:pPr>
            <a:r>
              <a:t>🎯 参数效率高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31546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5C5C"/>
                </a:solidFill>
              </a:defRPr>
            </a:pPr>
            <a:r>
              <a:t>▸ 只训练少量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关键参数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事半功倍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效果显著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3D"/>
                </a:solidFill>
              </a:defRPr>
            </a:pPr>
            <a:r>
              <a:t>对比传统微调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120640"/>
            <a:ext cx="11430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53E3E"/>
                </a:solidFill>
              </a:defRPr>
            </a:pPr>
            <a:r>
              <a:t>传统微调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C5C5C"/>
                </a:solidFill>
              </a:defRPr>
            </a:pPr>
            <a:r>
              <a:t>需要更新数十亿参数，成本高、耗时长、易遗忘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257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C95F"/>
                </a:solidFill>
              </a:defRPr>
            </a:pPr>
            <a:r>
              <a:t>LoRA微调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C5C5C"/>
                </a:solidFill>
              </a:defRPr>
            </a:pPr>
            <a:r>
              <a:t>只更新0.1%参数，低成本、高效率、不遗忘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22960"/>
          </a:xfrm>
          <a:prstGeom prst="rect">
            <a:avLst/>
          </a:prstGeom>
          <a:solidFill>
            <a:srgbClr val="00C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量化压缩：让专家轻装上阵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73152" cy="1828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39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3D"/>
                </a:solidFill>
              </a:defRPr>
            </a:pPr>
            <a:r>
              <a:t>⚠️ 问题：模型太大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49377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5C5C"/>
                </a:solidFill>
              </a:defRPr>
            </a:pPr>
            <a:r>
              <a:t>▸ 9B 参数的 FP16 模型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需要 18GB 显存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需要服务器级别设备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让很多企业望而却步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097280"/>
            <a:ext cx="5852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097280"/>
            <a:ext cx="73152" cy="1828800"/>
          </a:xfrm>
          <a:prstGeom prst="rect">
            <a:avLst/>
          </a:prstGeom>
          <a:solidFill>
            <a:srgbClr val="00C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234439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3D"/>
                </a:solidFill>
              </a:defRPr>
            </a:pPr>
            <a:r>
              <a:t>✅ 解决方案：GPTQ量化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60020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5C5C"/>
                </a:solidFill>
              </a:defRPr>
            </a:pPr>
            <a:r>
              <a:t>▸ FP16 → INT4 压缩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显存需求大幅降低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一张游戏显卡就能跑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推理速度反而更快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3D"/>
                </a:solidFill>
              </a:defRPr>
            </a:pPr>
            <a:r>
              <a:t>压缩效果对比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56616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3E3E"/>
                </a:solidFill>
              </a:defRPr>
            </a:pPr>
            <a:r>
              <a:t>FP16 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</a:defRPr>
            </a:pPr>
            <a:r>
              <a:t>显存需求：18GB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34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</a:defRPr>
            </a:pPr>
            <a:r>
              <a:t>需要：服务器/GPU集群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</a:defRPr>
            </a:pPr>
            <a:r>
              <a:t>体验：部署复杂、成本高昂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114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00C95F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356616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C95F"/>
                </a:solidFill>
              </a:defRPr>
            </a:pPr>
            <a:r>
              <a:t>INT4 量化模型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</a:defRPr>
            </a:pPr>
            <a:r>
              <a:t>显存需求：4~6GB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434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</a:defRPr>
            </a:pPr>
            <a:r>
              <a:t>需要：游戏显卡即可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5C5C"/>
                </a:solidFill>
              </a:defRPr>
            </a:pPr>
            <a:r>
              <a:t>体验：本地运行、即时响应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3D"/>
                </a:solidFill>
              </a:defRPr>
            </a:pPr>
            <a:r>
              <a:t>相当于把一台服务器级别的电脑，"压缩"成了一台笔记本电脑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C5C5C"/>
                </a:solidFill>
              </a:defRPr>
            </a:pPr>
            <a:r>
              <a:t>模型精度几乎无损，推理速度反而更快，让中小企业也能轻松部署AI安全专家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